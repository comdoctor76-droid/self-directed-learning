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09728" cy="201168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B37E"/>
                </a:solidFill>
                <a:latin typeface="맑은 고딕"/>
              </a:rPr>
              <a:t>휴대폰 버전 상세 사용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맑은 고딕"/>
              </a:rPr>
              <a:t>2610 주요치료비통합보장
시뮬레이터 앱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BD5E1"/>
                </a:solidFill>
                <a:latin typeface="맑은 고딕"/>
              </a:rPr>
              <a:t>탭·체크·바텀시트로 조작하는 모바일 화면 — 사용 방법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맑은 고딕"/>
              </a:rPr>
              <a:t>스스로 학습하기 · 교육용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</a:rPr>
              <a:t>차례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1. 들어가는 방법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23160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2. 화면 구성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3. 연차 고르기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4. 담보 선택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54880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5. 자동 연동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532120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4406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6. 암추가보장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7. 레벨업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23160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3317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8. 그래프·설명·설정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200400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1089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9. 통장 한도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977639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8862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10. 결과 보내기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754880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6634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11. 자주 묻는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들어가는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영업전략 → 10월 영업전략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566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400" b="0">
                <a:solidFill>
                  <a:srgbClr val="26282C"/>
                </a:solidFill>
                <a:latin typeface="맑은 고딕"/>
              </a:rPr>
              <a:t>메인에서 </a:t>
            </a:r>
            <a:r>
              <a:rPr sz="1400" b="1">
                <a:solidFill>
                  <a:srgbClr val="1A2744"/>
                </a:solidFill>
                <a:latin typeface="맑은 고딕"/>
              </a:rPr>
              <a:t>이달의 이슈(영업전략)</a:t>
            </a:r>
            <a:r>
              <a:rPr sz="1400" b="0">
                <a:solidFill>
                  <a:srgbClr val="26282C"/>
                </a:solidFill>
                <a:latin typeface="맑은 고딕"/>
              </a:rPr>
              <a:t> 카드 → </a:t>
            </a:r>
            <a:r>
              <a:rPr sz="1400" b="1">
                <a:solidFill>
                  <a:srgbClr val="1A2744"/>
                </a:solidFill>
                <a:latin typeface="맑은 고딕"/>
              </a:rPr>
              <a:t>10월 영업전략</a:t>
            </a:r>
            <a:r>
              <a:rPr sz="1400" b="0">
                <a:solidFill>
                  <a:srgbClr val="26282C"/>
                </a:solidFill>
                <a:latin typeface="맑은 고딕"/>
              </a:rPr>
              <a:t> 카드를 누릅니다.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400" b="0">
                <a:solidFill>
                  <a:srgbClr val="26282C"/>
                </a:solidFill>
                <a:latin typeface="맑은 고딕"/>
              </a:rPr>
              <a:t>카드가 두 장 나옵니다: </a:t>
            </a:r>
            <a:r>
              <a:rPr sz="1400" b="1">
                <a:solidFill>
                  <a:srgbClr val="1A2744"/>
                </a:solidFill>
                <a:latin typeface="맑은 고딕"/>
              </a:rPr>
              <a:t>2610 주요치료비통합보장</a:t>
            </a:r>
            <a:r>
              <a:rPr sz="1400" b="0">
                <a:solidFill>
                  <a:srgbClr val="26282C"/>
                </a:solidFill>
                <a:latin typeface="맑은 고딕"/>
              </a:rPr>
              <a:t>(시뮬레이터), </a:t>
            </a:r>
            <a:r>
              <a:rPr sz="1400" b="1">
                <a:solidFill>
                  <a:srgbClr val="1A2744"/>
                </a:solidFill>
                <a:latin typeface="맑은 고딕"/>
              </a:rPr>
              <a:t>이달의 매거진</a:t>
            </a:r>
            <a:r>
              <a:rPr sz="1400" b="0">
                <a:solidFill>
                  <a:srgbClr val="26282C"/>
                </a:solidFill>
                <a:latin typeface="맑은 고딕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400" b="0">
                <a:solidFill>
                  <a:srgbClr val="26282C"/>
                </a:solidFill>
                <a:latin typeface="맑은 고딕"/>
              </a:rPr>
              <a:t>시뮬레이터 카드를 누르면 전체 화면으로 열립니다.</a:t>
            </a:r>
          </a:p>
        </p:txBody>
      </p:sp>
      <p:pic>
        <p:nvPicPr>
          <p:cNvPr id="6" name="Picture 5" descr="01-strategy-list_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638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224198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① 10월 영업전략 카드</a:t>
            </a:r>
          </a:p>
        </p:txBody>
      </p:sp>
      <p:pic>
        <p:nvPicPr>
          <p:cNvPr id="8" name="Picture 7" descr="02-month-cards_j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284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797844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② 시뮬레이터 카드</a:t>
            </a:r>
          </a:p>
        </p:txBody>
      </p:sp>
      <p:pic>
        <p:nvPicPr>
          <p:cNvPr id="10" name="Picture 9" descr="03-app-home_j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2930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9371490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③ 시뮬레이터 첫 화면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들어가는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단독 링크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위쪽 남색 바의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🔗 링크 복사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를 누르면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단독 실행 링크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(sim2610.html)가 복사됩니다.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받은 사람은 시뮬레이터만 열어 볼 수 있고,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✕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를 누르면 닫힙니다.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↗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는 같은 단독 페이지를 새 창으로 엽니다.</a:t>
            </a:r>
          </a:p>
        </p:txBody>
      </p:sp>
      <p:pic>
        <p:nvPicPr>
          <p:cNvPr id="6" name="Picture 5" descr="03-app-home_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204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300764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남색 바: 🔗 · ↗ · 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화면 구성 한눈에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맨 위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: 한도·갱신 태그(10억 · 20년)와 ⚙ 설정 버튼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통장 잔고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: 남은 금액(만 원), 잔여·사용 비율, 막대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연차 줄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: 1년 미만 ~ 20년, 좌우로 밀어서 선택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탭 4개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: 암 / 암추가 / 유사암·기타 / 뇌·심장 (숫자 배지 = 선택한 개수)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맨 아래(고정)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: 그 연차 합계, 📊 그래프 · 📤 결과 보내기 · ⓘ 설명 · ↺ 초기화</a:t>
            </a:r>
          </a:p>
        </p:txBody>
      </p:sp>
      <p:pic>
        <p:nvPicPr>
          <p:cNvPr id="6" name="Picture 5" descr="03-app-home_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204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300764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시뮬레이터 화면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연차 고르기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연차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연차 칩을 눌러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가입 후 몇 년 차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에 보험금을 받는 상황인지 고릅니다.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연차마다 담보를 따로 선택할 수 있고, 선택한 연차에는 점(•)이 찍힙니다.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1년 미만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은 암·뇌심 담보가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50% 감액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되어 금액이 절반으로 표시됩니다.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10년 차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는 레벨업 조건을 충족하면 ⬆ 표시가 붙습니다.</a:t>
            </a:r>
          </a:p>
        </p:txBody>
      </p:sp>
      <p:pic>
        <p:nvPicPr>
          <p:cNvPr id="6" name="Picture 5" descr="04-year-chips_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204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300764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2년 차 선택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담보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한 번 누르면 설명, 두 번 누르면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한 번 누르기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: 점선 테두리와 설명 말풍선이 뜹니다. 아직 선택되지 않습니다.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같은 줄을 한 번 더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: 선택(✓)됩니다. 선택된 줄을 두 번 누르면 취소됩니다.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다른 줄을 누르면 설명이 그 줄로 바뀌고, 빈 곳을 누르거나 스크롤하면 설명이 닫힙니다.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선택하면 위쪽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통장 잔고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와 아래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합계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가 바로 바뀝니다.</a:t>
            </a:r>
          </a:p>
        </p:txBody>
      </p:sp>
      <p:pic>
        <p:nvPicPr>
          <p:cNvPr id="6" name="Picture 5" descr="05-tap-once-tip_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381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013941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① 한 번 누름 → 설명</a:t>
            </a:r>
          </a:p>
        </p:txBody>
      </p:sp>
      <p:pic>
        <p:nvPicPr>
          <p:cNvPr id="8" name="Picture 7" descr="06-tap-twice-selected_j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027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587587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② 두 번 누름 → 선택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담보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탭별 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566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400" b="1">
                <a:solidFill>
                  <a:srgbClr val="1A2744"/>
                </a:solidFill>
                <a:latin typeface="맑은 고딕"/>
              </a:rPr>
              <a:t>암 탭</a:t>
            </a:r>
            <a:r>
              <a:rPr sz="1400" b="0">
                <a:solidFill>
                  <a:srgbClr val="26282C"/>
                </a:solidFill>
                <a:latin typeface="맑은 고딕"/>
              </a:rPr>
              <a:t> : 암 수술비 / 항암 약물치료 / 4기 약물치료 / 항암 방사선치료 / 종합병원 중환자실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400" b="1">
                <a:solidFill>
                  <a:srgbClr val="1A2744"/>
                </a:solidFill>
                <a:latin typeface="맑은 고딕"/>
              </a:rPr>
              <a:t>유사암·기타 탭</a:t>
            </a:r>
            <a:r>
              <a:rPr sz="1400" b="0">
                <a:solidFill>
                  <a:srgbClr val="26282C"/>
                </a:solidFill>
                <a:latin typeface="맑은 고딕"/>
              </a:rPr>
              <a:t> : 유사암(기/갑) 3종 + 기타 질병(급여 특정중증, 비급여 수술 종합·상급)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400" b="1">
                <a:solidFill>
                  <a:srgbClr val="1A2744"/>
                </a:solidFill>
                <a:latin typeface="맑은 고딕"/>
              </a:rPr>
              <a:t>뇌·심장 탭</a:t>
            </a:r>
            <a:r>
              <a:rPr sz="1400" b="0">
                <a:solidFill>
                  <a:srgbClr val="26282C"/>
                </a:solidFill>
                <a:latin typeface="맑은 고딕"/>
              </a:rPr>
              <a:t> : A(수술비·중환자실 입원) / B(혈전 용해·특정 혈전 제거술)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400" b="0">
                <a:solidFill>
                  <a:srgbClr val="26282C"/>
                </a:solidFill>
                <a:latin typeface="맑은 고딕"/>
              </a:rPr>
              <a:t>각 줄 끝의 </a:t>
            </a:r>
            <a:r>
              <a:rPr sz="1400" b="1">
                <a:solidFill>
                  <a:srgbClr val="1A2744"/>
                </a:solidFill>
                <a:latin typeface="맑은 고딕"/>
              </a:rPr>
              <a:t>ⓘ</a:t>
            </a:r>
            <a:r>
              <a:rPr sz="1400" b="0">
                <a:solidFill>
                  <a:srgbClr val="26282C"/>
                </a:solidFill>
                <a:latin typeface="맑은 고딕"/>
              </a:rPr>
              <a:t>를 누르면 자세한 설명이 아래에서 올라옵니다.</a:t>
            </a:r>
          </a:p>
        </p:txBody>
      </p:sp>
      <p:pic>
        <p:nvPicPr>
          <p:cNvPr id="6" name="Picture 5" descr="18-cancer-selected_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638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224198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암 탭</a:t>
            </a:r>
          </a:p>
        </p:txBody>
      </p:sp>
      <p:pic>
        <p:nvPicPr>
          <p:cNvPr id="8" name="Picture 7" descr="16-sim-tab_j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284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797844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유사암·기타 탭</a:t>
            </a:r>
          </a:p>
        </p:txBody>
      </p:sp>
      <p:pic>
        <p:nvPicPr>
          <p:cNvPr id="10" name="Picture 9" descr="17-heart-tab_j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2930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9371490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뇌·심장 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자동 연동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자동으로 함께 선택되는 담보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4기 항암약물치료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선택 →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항암 약물치료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자동 선택. 4기를 해제하기 전에는 항암 약물치료를 해제할 수 없습니다(안내창).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혈전 용해 치료(B)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선택 →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중환자실 입원(A)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자동 선택 (혈전용해제 사용 환자의 98.9%가 중환자실 입원).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암 수술비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선택 →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비급여 수술(상급)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자동 선택.</a:t>
            </a:r>
          </a:p>
        </p:txBody>
      </p:sp>
      <p:pic>
        <p:nvPicPr>
          <p:cNvPr id="6" name="Picture 5" descr="07-stage4-lock_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381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013941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4기 해제 불가 안내</a:t>
            </a:r>
          </a:p>
        </p:txBody>
      </p:sp>
      <p:pic>
        <p:nvPicPr>
          <p:cNvPr id="8" name="Picture 7" descr="08-heart-link_j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027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587587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혈전 용해 → 중환자실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암추가보장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암추가보장(치료당) 특약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암추가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탭 맨 위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스위치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를 켜면 치료당 담보가 계산됩니다. (10억 20만 원 / 5억 10만 원 · 1년 미만 50%)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암 탭에서 고른 항암 약물·방사선에 맞춰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횟수 × 치료당 금액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이 합산됩니다.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주사제 / 주사제 외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중 하나만 선택. 주사제 횟수(기본 17회)는 − / + 버튼으로 바꿉니다.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방사선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(기본 30회)은 암 탭의 방사선을 선택하면 자동 체크,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유사암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은 20% 단가로 자동 합산됩니다.</a:t>
            </a:r>
          </a:p>
        </p:txBody>
      </p:sp>
      <p:pic>
        <p:nvPicPr>
          <p:cNvPr id="6" name="Picture 5" descr="09-pertx_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381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013941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암추가 탭</a:t>
            </a:r>
          </a:p>
        </p:txBody>
      </p:sp>
      <p:pic>
        <p:nvPicPr>
          <p:cNvPr id="8" name="Picture 7" descr="10-pertx-oral-tip_j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027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587587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주사제 외 설명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레벨업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10년 차 이후 레벨업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조건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: 1~9년 차에 사용한 금액이 통장 한도의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10% 이하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(10억 기준 1억 이하).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효과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: 10년 차 이후 일반 보장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120%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, 암추가보장(치료당)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1,000%(10배)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잔고 아래에 “⬆ 레벨업 적용 중” 표시, 연차 칩에 ⬆ 표시.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조건을 넘기면 레벨업이 적용되지 않습니다.</a:t>
            </a:r>
          </a:p>
        </p:txBody>
      </p:sp>
      <p:pic>
        <p:nvPicPr>
          <p:cNvPr id="6" name="Picture 5" descr="14-levelup_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204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300764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10년 차: 치료당 200만 원(1,000%)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그래프·설명·설정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시트 3종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566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400" b="1">
                <a:solidFill>
                  <a:srgbClr val="1A2744"/>
                </a:solidFill>
                <a:latin typeface="맑은 고딕"/>
              </a:rPr>
              <a:t>📊 그래프</a:t>
            </a:r>
            <a:r>
              <a:rPr sz="1400" b="0">
                <a:solidFill>
                  <a:srgbClr val="26282C"/>
                </a:solidFill>
                <a:latin typeface="맑은 고딕"/>
              </a:rPr>
              <a:t> : 연도별 합산 막대. 막대를 한 번 누르면 내용, 한 번 더 누르면 삭제.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400" b="1">
                <a:solidFill>
                  <a:srgbClr val="1A2744"/>
                </a:solidFill>
                <a:latin typeface="맑은 고딕"/>
              </a:rPr>
              <a:t>ⓘ 설명</a:t>
            </a:r>
            <a:r>
              <a:rPr sz="1400" b="0">
                <a:solidFill>
                  <a:srgbClr val="26282C"/>
                </a:solidFill>
                <a:latin typeface="맑은 고딕"/>
              </a:rPr>
              <a:t> : 면책/감액 요약과 레벨업 상세 설명.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400" b="1">
                <a:solidFill>
                  <a:srgbClr val="1A2744"/>
                </a:solidFill>
                <a:latin typeface="맑은 고딕"/>
              </a:rPr>
              <a:t>⚙ 설정</a:t>
            </a:r>
            <a:r>
              <a:rPr sz="1400" b="0">
                <a:solidFill>
                  <a:srgbClr val="26282C"/>
                </a:solidFill>
                <a:latin typeface="맑은 고딕"/>
              </a:rPr>
              <a:t> : 10억/5억 한도, 암추가보장 가입. 한도를 바꾸면 입력 내용이 초기화됩니다.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400" b="1">
                <a:solidFill>
                  <a:srgbClr val="1A2744"/>
                </a:solidFill>
                <a:latin typeface="맑은 고딕"/>
              </a:rPr>
              <a:t>↺ 초기화</a:t>
            </a:r>
            <a:r>
              <a:rPr sz="1400" b="0">
                <a:solidFill>
                  <a:srgbClr val="26282C"/>
                </a:solidFill>
                <a:latin typeface="맑은 고딕"/>
              </a:rPr>
              <a:t> : 모든 연차의 입력을 지웁니다.</a:t>
            </a:r>
          </a:p>
        </p:txBody>
      </p:sp>
      <p:pic>
        <p:nvPicPr>
          <p:cNvPr id="6" name="Picture 5" descr="11-chart-sheet_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638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224198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📊 그래프</a:t>
            </a:r>
          </a:p>
        </p:txBody>
      </p:sp>
      <p:pic>
        <p:nvPicPr>
          <p:cNvPr id="8" name="Picture 7" descr="12-info-sheet_j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284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797844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ⓘ 설명</a:t>
            </a:r>
          </a:p>
        </p:txBody>
      </p:sp>
      <p:pic>
        <p:nvPicPr>
          <p:cNvPr id="10" name="Picture 9" descr="13-settings_j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2930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9371490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⚙ 설정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통장 한도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10억 / 5억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⚙ 설정에서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프리미엄 10억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,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표준형 5억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을 고릅니다.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한도에 따라 담보 금액과 치료당 단가(20만/10만 원)가 바뀝니다.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상단 태그에 현재 한도가 표시됩니다.</a:t>
            </a:r>
          </a:p>
        </p:txBody>
      </p:sp>
      <p:pic>
        <p:nvPicPr>
          <p:cNvPr id="6" name="Picture 5" descr="19-plan5_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204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300764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표준형 5억 선택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결과 보내기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결과 보내기 (카카오톡 · 사진 저장)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노란색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📤 결과 보내기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를 누르면 연차별 막대와 항목 설명 상자가 담긴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결과 그림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이 만들어집니다.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💬 카톡으로 보내기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: 공유창에서 카카오톡을 골라 보냅니다.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🖼 사진으로 저장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: 공유창에 카카오톡이 없으면 저장 후 카톡에서 사진으로 보내세요. 저장이 안 되면 그림을 길게 눌러 “사진에 저장”.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연차는 두 칸씩(1·2년, 3·4년…) 배치됩니다.</a:t>
            </a:r>
          </a:p>
        </p:txBody>
      </p:sp>
      <p:pic>
        <p:nvPicPr>
          <p:cNvPr id="6" name="Picture 5" descr="15-share-sheet_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381" y="1143000"/>
            <a:ext cx="2345045" cy="507492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013941" y="6263640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결과 보내기 창</a:t>
            </a:r>
          </a:p>
        </p:txBody>
      </p:sp>
      <p:pic>
        <p:nvPicPr>
          <p:cNvPr id="8" name="Picture 7" descr="20-result-image_j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027" y="1143000"/>
            <a:ext cx="2345045" cy="3069605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587587" y="4258325"/>
            <a:ext cx="25279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결과 그림 예시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744"/>
                </a:solidFill>
                <a:latin typeface="맑은 고딕"/>
              </a:rPr>
              <a:t>Q. 담보를 눌러도 선택이 안 돼요.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90472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6282C"/>
                </a:solidFill>
                <a:latin typeface="맑은 고딕"/>
              </a:rPr>
              <a:t>한 번은 설명입니다. 같은 줄을 한 번 더 누르세요.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744"/>
                </a:solidFill>
                <a:latin typeface="맑은 고딕"/>
              </a:rPr>
              <a:t>Q. 주사제 외는 왜 1회만 계산되나요?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96312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6282C"/>
                </a:solidFill>
                <a:latin typeface="맑은 고딕"/>
              </a:rPr>
              <a:t>약관상 연간 1회한이어서 횟수 입력 없이 연 1회로 계산합니다.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744"/>
                </a:solidFill>
                <a:latin typeface="맑은 고딕"/>
              </a:rPr>
              <a:t>Q. 10년 차인데 레벨업이 안 돼요.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02152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6282C"/>
                </a:solidFill>
                <a:latin typeface="맑은 고딕"/>
              </a:rPr>
              <a:t>1~9년 차 사용액이 한도의 10%를 넘었는지 확인하세요.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744"/>
                </a:solidFill>
                <a:latin typeface="맑은 고딕"/>
              </a:rPr>
              <a:t>Q. 항암 약물치료가 해제되지 않아요.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07992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6282C"/>
                </a:solidFill>
                <a:latin typeface="맑은 고딕"/>
              </a:rPr>
              <a:t>4기 항암약물치료가 선택돼 있으면 함께 적용됩니다. 4기를 먼저 해제하세요.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744"/>
                </a:solidFill>
                <a:latin typeface="맑은 고딕"/>
              </a:rPr>
              <a:t>Q. 공유창에 카카오톡이 안 보여요.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513832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6282C"/>
                </a:solidFill>
                <a:latin typeface="맑은 고딕"/>
              </a:rPr>
              <a:t>앱 안 브라우저일 수 있습니다. 사진으로 저장한 뒤 카톡에서 사진으로 보내세요.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078"/>
                </a:solidFill>
                <a:latin typeface="맑은 고딕"/>
              </a:rPr>
              <a:t>※ 교육용 시뮬레이션이며 실제 보험금 지급은 약관과 심사 기준에 따릅니다.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